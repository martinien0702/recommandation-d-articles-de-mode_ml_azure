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2"/>
  </p:notesMasterIdLst>
  <p:handoutMasterIdLst>
    <p:handoutMasterId r:id="rId13"/>
  </p:handoutMasterIdLst>
  <p:sldIdLst>
    <p:sldId id="314" r:id="rId5"/>
    <p:sldId id="315" r:id="rId6"/>
    <p:sldId id="316" r:id="rId7"/>
    <p:sldId id="318" r:id="rId8"/>
    <p:sldId id="326" r:id="rId9"/>
    <p:sldId id="321" r:id="rId10"/>
    <p:sldId id="319" r:id="rId11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65" autoAdjust="0"/>
    <p:restoredTop sz="95388" autoAdjust="0"/>
  </p:normalViewPr>
  <p:slideViewPr>
    <p:cSldViewPr snapToGrid="0">
      <p:cViewPr varScale="1">
        <p:scale>
          <a:sx n="76" d="100"/>
          <a:sy n="76" d="100"/>
        </p:scale>
        <p:origin x="1099" y="58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90" d="100"/>
          <a:sy n="90" d="100"/>
        </p:scale>
        <p:origin x="3024" y="3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9FCBA119-BEA8-4689-98F4-F2CD1651F56E}" type="datetime1">
              <a:rPr lang="fr-FR" smtClean="0"/>
              <a:t>26/12/2025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4BF9A36D-7FAC-478F-9944-F324014F6FD1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BBC68F4B-8745-40E0-B0BA-FAD3EFD32B4C}" type="datetime1">
              <a:rPr lang="fr-FR" smtClean="0"/>
              <a:t>26/12/2025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D4B9A9E5-4F7F-4A7D-9DE1-899232329269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fr-F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4B9A9E5-4F7F-4A7D-9DE1-899232329269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4B9A9E5-4F7F-4A7D-9DE1-899232329269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4B9A9E5-4F7F-4A7D-9DE1-899232329269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4B9A9E5-4F7F-4A7D-9DE1-899232329269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C6EFA-7745-8E12-F35D-0274A338D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>
            <a:extLst>
              <a:ext uri="{FF2B5EF4-FFF2-40B4-BE49-F238E27FC236}">
                <a16:creationId xmlns:a16="http://schemas.microsoft.com/office/drawing/2014/main" id="{602DF7E4-DD6D-8954-7FE8-4A6A7B055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>
            <a:extLst>
              <a:ext uri="{FF2B5EF4-FFF2-40B4-BE49-F238E27FC236}">
                <a16:creationId xmlns:a16="http://schemas.microsoft.com/office/drawing/2014/main" id="{1065A52F-2A44-D287-14EA-9852A1D5D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B6EB052-E816-4F20-B9D3-81D1BAD6A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4B9A9E5-4F7F-4A7D-9DE1-899232329269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3756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4B9A9E5-4F7F-4A7D-9DE1-899232329269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4229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D4B9A9E5-4F7F-4A7D-9DE1-899232329269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rtlCol="0" anchor="b">
            <a:normAutofit/>
          </a:bodyPr>
          <a:lstStyle>
            <a:lvl1pPr>
              <a:defRPr lang="fr-FR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que 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que 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rtlCol="0" anchor="b">
            <a:normAutofit/>
          </a:bodyPr>
          <a:lstStyle>
            <a:lvl1pPr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buNone/>
              <a:defRPr lang="fr-FR" sz="2000"/>
            </a:lvl1pPr>
            <a:lvl2pPr>
              <a:lnSpc>
                <a:spcPct val="120000"/>
              </a:lnSpc>
              <a:defRPr lang="fr-FR" sz="1800"/>
            </a:lvl2pPr>
            <a:lvl3pPr>
              <a:lnSpc>
                <a:spcPct val="120000"/>
              </a:lnSpc>
              <a:defRPr lang="fr-FR" sz="1600"/>
            </a:lvl3pPr>
            <a:lvl4pPr>
              <a:lnSpc>
                <a:spcPct val="120000"/>
              </a:lnSpc>
              <a:defRPr lang="fr-FR" sz="1400"/>
            </a:lvl4pPr>
            <a:lvl5pPr>
              <a:lnSpc>
                <a:spcPct val="120000"/>
              </a:lnSpc>
              <a:defRPr lang="fr-FR" sz="14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sec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rtlCol="0" anchor="b">
            <a:normAutofit/>
          </a:bodyPr>
          <a:lstStyle>
            <a:lvl1pPr>
              <a:defRPr lang="fr-FR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9" name="Espace réservé d’image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l’icône pour insérer une image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ue d’ensemb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rtlCol="0" anchor="b">
            <a:normAutofit/>
          </a:bodyPr>
          <a:lstStyle>
            <a:lvl1pPr>
              <a:defRPr lang="fr-FR" sz="48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fr-FR" sz="2000"/>
            </a:lvl1pPr>
          </a:lstStyle>
          <a:p>
            <a:pPr rtl="0"/>
            <a:r>
              <a:rPr lang="fr-FR"/>
              <a:t>Cliquez sur l’icône pour ajouter une image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fr-FR" sz="2000"/>
            </a:lvl1pPr>
            <a:lvl2pPr marL="457200" indent="0">
              <a:buNone/>
              <a:defRPr lang="fr-FR" sz="1800"/>
            </a:lvl2pPr>
            <a:lvl3pPr marL="914400" indent="0">
              <a:buNone/>
              <a:defRPr lang="fr-FR" sz="1600"/>
            </a:lvl3pPr>
            <a:lvl4pPr marL="1371600" indent="0">
              <a:buNone/>
              <a:defRPr lang="fr-FR" sz="1400"/>
            </a:lvl4pPr>
            <a:lvl5pPr marL="1828800" indent="0">
              <a:buNone/>
              <a:defRPr lang="fr-FR" sz="14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 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que 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 rtlCol="0">
            <a:normAutofit/>
          </a:bodyPr>
          <a:lstStyle>
            <a:lvl1pPr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fr-FR" sz="2000"/>
            </a:lvl1pPr>
            <a:lvl2pPr>
              <a:spcBef>
                <a:spcPts val="0"/>
              </a:spcBef>
              <a:spcAft>
                <a:spcPts val="1200"/>
              </a:spcAft>
              <a:defRPr lang="fr-FR" sz="1800"/>
            </a:lvl2pPr>
            <a:lvl3pPr>
              <a:spcBef>
                <a:spcPts val="0"/>
              </a:spcBef>
              <a:spcAft>
                <a:spcPts val="1200"/>
              </a:spcAft>
              <a:defRPr lang="fr-FR" sz="1600"/>
            </a:lvl3pPr>
            <a:lvl4pPr>
              <a:spcBef>
                <a:spcPts val="0"/>
              </a:spcBef>
              <a:spcAft>
                <a:spcPts val="1200"/>
              </a:spcAft>
              <a:defRPr lang="fr-FR" sz="1400"/>
            </a:lvl4pPr>
            <a:lvl5pPr>
              <a:spcBef>
                <a:spcPts val="0"/>
              </a:spcBef>
              <a:spcAft>
                <a:spcPts val="1200"/>
              </a:spcAft>
              <a:defRPr lang="fr-FR" sz="14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du titre et image de gauch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que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rtlCol="0" anchor="b">
            <a:normAutofit/>
          </a:bodyPr>
          <a:lstStyle>
            <a:lvl1pPr>
              <a:defRPr lang="fr-FR" sz="4800">
                <a:solidFill>
                  <a:schemeClr val="bg1"/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11" name="Espace réservé d’image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l">
              <a:buNone/>
              <a:defRPr lang="fr-F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sur l’icône pour ajouter une image</a:t>
            </a:r>
          </a:p>
        </p:txBody>
      </p:sp>
      <p:sp>
        <p:nvSpPr>
          <p:cNvPr id="9" name="Espace réservé du contenu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fr-FR"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fr-FR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que 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r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 rtlCol="0">
            <a:normAutofit/>
          </a:bodyPr>
          <a:lstStyle>
            <a:lvl1pPr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fr-FR" sz="2000"/>
            </a:lvl1pPr>
            <a:lvl2pPr>
              <a:spcBef>
                <a:spcPts val="0"/>
              </a:spcBef>
              <a:spcAft>
                <a:spcPts val="1200"/>
              </a:spcAft>
              <a:defRPr lang="fr-FR" sz="1800"/>
            </a:lvl2pPr>
            <a:lvl3pPr>
              <a:spcBef>
                <a:spcPts val="0"/>
              </a:spcBef>
              <a:spcAft>
                <a:spcPts val="1200"/>
              </a:spcAft>
              <a:defRPr lang="fr-FR" sz="1600"/>
            </a:lvl3pPr>
            <a:lvl4pPr>
              <a:spcBef>
                <a:spcPts val="0"/>
              </a:spcBef>
              <a:spcAft>
                <a:spcPts val="1200"/>
              </a:spcAft>
              <a:defRPr lang="fr-FR" sz="1400"/>
            </a:lvl4pPr>
            <a:lvl5pPr>
              <a:spcBef>
                <a:spcPts val="0"/>
              </a:spcBef>
              <a:spcAft>
                <a:spcPts val="1200"/>
              </a:spcAft>
              <a:defRPr lang="fr-FR" sz="14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u contenu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fr-FR" sz="2000"/>
            </a:lvl1pPr>
            <a:lvl2pPr>
              <a:spcBef>
                <a:spcPts val="0"/>
              </a:spcBef>
              <a:spcAft>
                <a:spcPts val="1200"/>
              </a:spcAft>
              <a:defRPr lang="fr-FR" sz="1800"/>
            </a:lvl2pPr>
            <a:lvl3pPr>
              <a:spcBef>
                <a:spcPts val="0"/>
              </a:spcBef>
              <a:spcAft>
                <a:spcPts val="1200"/>
              </a:spcAft>
              <a:defRPr lang="fr-FR" sz="1600"/>
            </a:lvl3pPr>
            <a:lvl4pPr>
              <a:spcBef>
                <a:spcPts val="0"/>
              </a:spcBef>
              <a:spcAft>
                <a:spcPts val="1200"/>
              </a:spcAft>
              <a:defRPr lang="fr-FR" sz="1400"/>
            </a:lvl4pPr>
            <a:lvl5pPr>
              <a:spcBef>
                <a:spcPts val="0"/>
              </a:spcBef>
              <a:spcAft>
                <a:spcPts val="1200"/>
              </a:spcAft>
              <a:defRPr lang="fr-FR" sz="14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que 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r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 rtlCol="0">
            <a:normAutofit/>
          </a:bodyPr>
          <a:lstStyle>
            <a:lvl1pPr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fr-FR" sz="2000" b="1"/>
            </a:lvl1pPr>
            <a:lvl2pPr>
              <a:spcBef>
                <a:spcPts val="0"/>
              </a:spcBef>
              <a:spcAft>
                <a:spcPts val="1200"/>
              </a:spcAft>
              <a:defRPr lang="fr-FR" sz="1800" b="1"/>
            </a:lvl2pPr>
            <a:lvl3pPr>
              <a:spcBef>
                <a:spcPts val="0"/>
              </a:spcBef>
              <a:spcAft>
                <a:spcPts val="1200"/>
              </a:spcAft>
              <a:defRPr lang="fr-FR" sz="1600" b="1"/>
            </a:lvl3pPr>
            <a:lvl4pPr>
              <a:spcBef>
                <a:spcPts val="0"/>
              </a:spcBef>
              <a:spcAft>
                <a:spcPts val="1200"/>
              </a:spcAft>
              <a:defRPr lang="fr-FR" sz="1400" b="1"/>
            </a:lvl4pPr>
            <a:lvl5pPr>
              <a:spcBef>
                <a:spcPts val="0"/>
              </a:spcBef>
              <a:spcAft>
                <a:spcPts val="1200"/>
              </a:spcAft>
              <a:defRPr lang="fr-FR" sz="1400" b="1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u contenu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fr-FR" sz="2000"/>
            </a:lvl1pPr>
            <a:lvl2pPr>
              <a:spcBef>
                <a:spcPts val="0"/>
              </a:spcBef>
              <a:spcAft>
                <a:spcPts val="1200"/>
              </a:spcAft>
              <a:defRPr lang="fr-FR" sz="1800"/>
            </a:lvl2pPr>
            <a:lvl3pPr>
              <a:spcBef>
                <a:spcPts val="0"/>
              </a:spcBef>
              <a:spcAft>
                <a:spcPts val="1200"/>
              </a:spcAft>
              <a:defRPr lang="fr-FR" sz="1600"/>
            </a:lvl3pPr>
            <a:lvl4pPr>
              <a:spcBef>
                <a:spcPts val="0"/>
              </a:spcBef>
              <a:spcAft>
                <a:spcPts val="1200"/>
              </a:spcAft>
              <a:defRPr lang="fr-FR" sz="1400"/>
            </a:lvl4pPr>
            <a:lvl5pPr>
              <a:spcBef>
                <a:spcPts val="0"/>
              </a:spcBef>
              <a:spcAft>
                <a:spcPts val="1200"/>
              </a:spcAft>
              <a:defRPr lang="fr-FR" sz="14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du titre et image dro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r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 rtlCol="0">
            <a:normAutofit/>
          </a:bodyPr>
          <a:lstStyle>
            <a:lvl1pPr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0" name="Espace réservé du contenu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fr-FR" sz="2000" b="0"/>
            </a:lvl1pPr>
            <a:lvl2pPr>
              <a:spcBef>
                <a:spcPts val="0"/>
              </a:spcBef>
              <a:spcAft>
                <a:spcPts val="1200"/>
              </a:spcAft>
              <a:defRPr lang="fr-FR" sz="1800" b="0"/>
            </a:lvl2pPr>
            <a:lvl3pPr>
              <a:spcBef>
                <a:spcPts val="0"/>
              </a:spcBef>
              <a:spcAft>
                <a:spcPts val="1200"/>
              </a:spcAft>
              <a:defRPr lang="fr-FR" sz="1600" b="0"/>
            </a:lvl3pPr>
            <a:lvl4pPr>
              <a:spcBef>
                <a:spcPts val="0"/>
              </a:spcBef>
              <a:spcAft>
                <a:spcPts val="1200"/>
              </a:spcAft>
              <a:defRPr lang="fr-FR" sz="1400" b="0"/>
            </a:lvl4pPr>
            <a:lvl5pPr>
              <a:spcBef>
                <a:spcPts val="0"/>
              </a:spcBef>
              <a:spcAft>
                <a:spcPts val="1200"/>
              </a:spcAft>
              <a:defRPr lang="fr-FR" sz="1400" b="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2" name="Espace réservé d’image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r">
              <a:buNone/>
              <a:defRPr lang="fr-FR" sz="2000"/>
            </a:lvl1pPr>
          </a:lstStyle>
          <a:p>
            <a:pPr rtl="0"/>
            <a:r>
              <a:rPr lang="fr-FR"/>
              <a:t>Cliquez sur l’icône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du titre et tablea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 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dirty="0"/>
          </a:p>
        </p:txBody>
      </p:sp>
      <p:pic>
        <p:nvPicPr>
          <p:cNvPr id="9" name="Graphique 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r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 rtlCol="0">
            <a:normAutofit/>
          </a:bodyPr>
          <a:lstStyle>
            <a:lvl1pPr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fr-FR" sz="2000" b="0"/>
            </a:lvl1pPr>
            <a:lvl2pPr>
              <a:spcBef>
                <a:spcPts val="0"/>
              </a:spcBef>
              <a:spcAft>
                <a:spcPts val="1200"/>
              </a:spcAft>
              <a:defRPr lang="fr-FR" sz="1800" b="0"/>
            </a:lvl2pPr>
            <a:lvl3pPr>
              <a:spcBef>
                <a:spcPts val="0"/>
              </a:spcBef>
              <a:spcAft>
                <a:spcPts val="1200"/>
              </a:spcAft>
              <a:defRPr lang="fr-FR" sz="1600" b="0"/>
            </a:lvl3pPr>
            <a:lvl4pPr>
              <a:spcBef>
                <a:spcPts val="0"/>
              </a:spcBef>
              <a:spcAft>
                <a:spcPts val="1200"/>
              </a:spcAft>
              <a:defRPr lang="fr-FR" sz="1400" b="0"/>
            </a:lvl4pPr>
            <a:lvl5pPr>
              <a:spcBef>
                <a:spcPts val="0"/>
              </a:spcBef>
              <a:spcAft>
                <a:spcPts val="1200"/>
              </a:spcAft>
              <a:defRPr lang="fr-FR" sz="1400" b="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3" name="Espace réservé de table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 rtlCol="0">
            <a:normAutofit/>
          </a:bodyPr>
          <a:lstStyle>
            <a:lvl1pPr>
              <a:defRPr lang="fr-FR" sz="2000"/>
            </a:lvl1pPr>
          </a:lstStyle>
          <a:p>
            <a:pPr rtl="0"/>
            <a:r>
              <a:rPr lang="fr-FR"/>
              <a:t>Cliquez sur l’icône pour insérer un tableau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deux Contenus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que 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r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 rtlCol="0">
            <a:normAutofit/>
          </a:bodyPr>
          <a:lstStyle>
            <a:lvl1pPr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fr-FR"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lang="fr-FR"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lang="fr-FR"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lang="fr-FR"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lang="fr-FR" sz="1600" b="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2" name="Espace réservé du contenu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fr-FR"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lang="fr-FR"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lang="fr-FR"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lang="fr-FR"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lang="fr-FR" sz="1400" b="1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 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 rtlCol="0">
            <a:normAutofit/>
          </a:bodyPr>
          <a:lstStyle>
            <a:lvl1pPr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9" name="Espace réservé du tableau 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 rtlCol="0">
            <a:normAutofit/>
          </a:bodyPr>
          <a:lstStyle>
            <a:lvl1pPr>
              <a:defRPr lang="fr-FR" sz="2400"/>
            </a:lvl1pPr>
          </a:lstStyle>
          <a:p>
            <a:pPr rtl="0"/>
            <a:r>
              <a:rPr lang="fr-FR"/>
              <a:t>Cliquez sur l’icône pour ajouter un tableau</a:t>
            </a:r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rmetur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rtlCol="0" anchor="b">
            <a:normAutofit/>
          </a:bodyPr>
          <a:lstStyle>
            <a:lvl1pPr>
              <a:defRPr lang="fr-FR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fr-FR"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fr-FR"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fr-FR"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fr-FR"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fr-FR" sz="12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/>
              <a:t>Cliquez pour ajouter du contenu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fr-FR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fr-FR"/>
              <a:t>Pitch Deck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fr-FR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fr-F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682005"/>
            <a:ext cx="6096000" cy="2627581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sz="5400" b="1" dirty="0"/>
              <a:t>Projet Azure ML Studio </a:t>
            </a:r>
            <a:br>
              <a:rPr lang="fr-FR" sz="5400" dirty="0"/>
            </a:br>
            <a:endParaRPr lang="fr-FR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219615-9757-606C-0241-104298B29653}"/>
              </a:ext>
            </a:extLst>
          </p:cNvPr>
          <p:cNvSpPr txBox="1">
            <a:spLocks/>
          </p:cNvSpPr>
          <p:nvPr/>
        </p:nvSpPr>
        <p:spPr>
          <a:xfrm>
            <a:off x="-164890" y="4894530"/>
            <a:ext cx="7337684" cy="1752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>
              <a:solidFill>
                <a:schemeClr val="bg1"/>
              </a:solidFill>
            </a:endParaRPr>
          </a:p>
          <a:p>
            <a:r>
              <a:rPr lang="fr-FR" sz="2000" u="sng" dirty="0" err="1">
                <a:solidFill>
                  <a:schemeClr val="bg1"/>
                </a:solidFill>
              </a:rPr>
              <a:t>Gansoaba</a:t>
            </a:r>
            <a:r>
              <a:rPr lang="fr-FR" sz="2000" u="sng" dirty="0">
                <a:solidFill>
                  <a:schemeClr val="bg1"/>
                </a:solidFill>
              </a:rPr>
              <a:t> M. T. </a:t>
            </a:r>
            <a:r>
              <a:rPr lang="fr-FR" sz="2000" u="sng" dirty="0" err="1">
                <a:solidFill>
                  <a:schemeClr val="bg1"/>
                </a:solidFill>
              </a:rPr>
              <a:t>Ouedraogo</a:t>
            </a:r>
            <a:r>
              <a:rPr lang="fr-FR" sz="2000" u="sng" dirty="0">
                <a:solidFill>
                  <a:schemeClr val="bg1"/>
                </a:solidFill>
              </a:rPr>
              <a:t>, Kevin T. </a:t>
            </a:r>
            <a:r>
              <a:rPr lang="fr-FR" sz="2000" u="sng" dirty="0" err="1">
                <a:solidFill>
                  <a:schemeClr val="bg1"/>
                </a:solidFill>
              </a:rPr>
              <a:t>Ndiffo</a:t>
            </a:r>
            <a:r>
              <a:rPr lang="fr-FR" sz="2000" u="sng" dirty="0">
                <a:solidFill>
                  <a:schemeClr val="bg1"/>
                </a:solidFill>
              </a:rPr>
              <a:t>, Martinien Mehoun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664F359-A0D7-4C97-7923-CBA769D704E1}"/>
              </a:ext>
            </a:extLst>
          </p:cNvPr>
          <p:cNvSpPr txBox="1">
            <a:spLocks/>
          </p:cNvSpPr>
          <p:nvPr/>
        </p:nvSpPr>
        <p:spPr>
          <a:xfrm>
            <a:off x="5991069" y="4019549"/>
            <a:ext cx="5806189" cy="876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fr-F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</a:rPr>
              <a:t>Outils infonuagiques – IFM30497</a:t>
            </a:r>
          </a:p>
          <a:p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206476"/>
            <a:ext cx="5181600" cy="2376868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sz="4000" dirty="0"/>
              <a:t>1. Importation et Prétraitement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372325"/>
            <a:ext cx="7225259" cy="3128963"/>
          </a:xfrm>
        </p:spPr>
        <p:txBody>
          <a:bodyPr rtlCol="0">
            <a:normAutofit fontScale="92500" lnSpcReduction="10000"/>
          </a:bodyPr>
          <a:lstStyle>
            <a:defPPr>
              <a:defRPr lang="fr-FR"/>
            </a:defPPr>
          </a:lstStyle>
          <a:p>
            <a:pPr>
              <a:lnSpc>
                <a:spcPct val="150000"/>
              </a:lnSpc>
            </a:pPr>
            <a:r>
              <a:rPr lang="fr-FR" sz="2800" dirty="0">
                <a:solidFill>
                  <a:schemeClr val="accent4">
                    <a:lumMod val="10000"/>
                  </a:schemeClr>
                </a:solidFill>
              </a:rPr>
              <a:t>- Import de deux jeux de données : ventes et caractéristiques des robes</a:t>
            </a:r>
          </a:p>
          <a:p>
            <a:pPr>
              <a:lnSpc>
                <a:spcPct val="150000"/>
              </a:lnSpc>
            </a:pPr>
            <a:r>
              <a:rPr lang="fr-FR" sz="2800" dirty="0">
                <a:solidFill>
                  <a:schemeClr val="accent4">
                    <a:lumMod val="10000"/>
                  </a:schemeClr>
                </a:solidFill>
              </a:rPr>
              <a:t>- Filtrage de lignes- Nettoyage initial avec script Python : fusion, tri, remplacement des '</a:t>
            </a:r>
            <a:r>
              <a:rPr lang="fr-FR" sz="2800" dirty="0" err="1">
                <a:solidFill>
                  <a:schemeClr val="accent4">
                    <a:lumMod val="10000"/>
                  </a:schemeClr>
                </a:solidFill>
              </a:rPr>
              <a:t>null</a:t>
            </a:r>
            <a:r>
              <a:rPr lang="fr-FR" sz="2800" dirty="0">
                <a:solidFill>
                  <a:schemeClr val="accent4">
                    <a:lumMod val="10000"/>
                  </a:schemeClr>
                </a:solidFill>
              </a:rPr>
              <a:t>'</a:t>
            </a:r>
          </a:p>
          <a:p>
            <a:pPr>
              <a:lnSpc>
                <a:spcPct val="150000"/>
              </a:lnSpc>
            </a:pPr>
            <a:r>
              <a:rPr lang="fr-FR" sz="2800" dirty="0">
                <a:solidFill>
                  <a:schemeClr val="accent4">
                    <a:lumMod val="10000"/>
                  </a:schemeClr>
                </a:solidFill>
              </a:rPr>
              <a:t> trop incomplètes</a:t>
            </a:r>
          </a:p>
          <a:p>
            <a:endParaRPr lang="fr-FR" sz="2400" dirty="0">
              <a:solidFill>
                <a:schemeClr val="accent4">
                  <a:lumMod val="10000"/>
                </a:schemeClr>
              </a:solidFill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B5CEABB6-07DC-46E8-9B57-56EC44A396E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Espace réservé d’image 13">
            <a:extLst>
              <a:ext uri="{FF2B5EF4-FFF2-40B4-BE49-F238E27FC236}">
                <a16:creationId xmlns:a16="http://schemas.microsoft.com/office/drawing/2014/main" id="{F28819F3-7D3B-EB42-24FD-3C0BBC5963B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030" t="148" r="38661" b="-148"/>
          <a:stretch/>
        </p:blipFill>
        <p:spPr>
          <a:xfrm>
            <a:off x="7102797" y="-10160"/>
            <a:ext cx="6116320" cy="6868160"/>
          </a:xfrm>
        </p:spPr>
      </p:pic>
      <p:sp>
        <p:nvSpPr>
          <p:cNvPr id="3" name="Titre 2">
            <a:extLst>
              <a:ext uri="{FF2B5EF4-FFF2-40B4-BE49-F238E27FC236}">
                <a16:creationId xmlns:a16="http://schemas.microsoft.com/office/drawing/2014/main" id="{24CA50BF-6C22-19FF-C994-C566D9B70A3E}"/>
              </a:ext>
            </a:extLst>
          </p:cNvPr>
          <p:cNvSpPr txBox="1">
            <a:spLocks/>
          </p:cNvSpPr>
          <p:nvPr/>
        </p:nvSpPr>
        <p:spPr>
          <a:xfrm>
            <a:off x="944380" y="116163"/>
            <a:ext cx="6705600" cy="23768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fr-FR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fr-FR" sz="48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000" dirty="0"/>
              <a:t>2. Séparation Entraînement / Test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00F5F8-FD87-9B94-D866-9E90D5202948}"/>
              </a:ext>
            </a:extLst>
          </p:cNvPr>
          <p:cNvSpPr txBox="1">
            <a:spLocks/>
          </p:cNvSpPr>
          <p:nvPr/>
        </p:nvSpPr>
        <p:spPr>
          <a:xfrm>
            <a:off x="944380" y="2936232"/>
            <a:ext cx="7089161" cy="3128963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fr-FR"/>
            </a:defPPr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fr-FR"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fr-FR" sz="2600" dirty="0"/>
              <a:t>- Répartition stratifiée 70%/30% pour garantir 	l'équilibre des classes</a:t>
            </a:r>
          </a:p>
          <a:p>
            <a:pPr algn="l">
              <a:lnSpc>
                <a:spcPct val="150000"/>
              </a:lnSpc>
            </a:pPr>
            <a:r>
              <a:rPr lang="fr-FR" sz="2600" dirty="0"/>
              <a:t>- Sélection de la cible (</a:t>
            </a:r>
            <a:r>
              <a:rPr lang="fr-FR" sz="2600" dirty="0" err="1"/>
              <a:t>Recommendation</a:t>
            </a:r>
            <a:r>
              <a:rPr lang="fr-FR" sz="2600" dirty="0"/>
              <a:t>) avec 	</a:t>
            </a:r>
            <a:r>
              <a:rPr lang="fr-FR" sz="2600" dirty="0" err="1"/>
              <a:t>Column</a:t>
            </a:r>
            <a:r>
              <a:rPr lang="fr-FR" sz="2600" dirty="0"/>
              <a:t> </a:t>
            </a:r>
            <a:r>
              <a:rPr lang="fr-FR" sz="2600" dirty="0" err="1"/>
              <a:t>Selector</a:t>
            </a:r>
            <a:endParaRPr lang="fr-FR" sz="2600" dirty="0"/>
          </a:p>
          <a:p>
            <a:pPr algn="l">
              <a:lnSpc>
                <a:spcPct val="150000"/>
              </a:lnSpc>
            </a:pPr>
            <a:r>
              <a:rPr lang="fr-FR" sz="2600" dirty="0"/>
              <a:t>- Préparation des données avant modélisation</a:t>
            </a:r>
          </a:p>
          <a:p>
            <a:pPr algn="l"/>
            <a:endParaRPr lang="fr-FR" sz="2400" dirty="0">
              <a:solidFill>
                <a:schemeClr val="accent4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B5CEABB6-07DC-46E8-9B57-56EC44A396E5}" type="slidenum">
              <a:rPr lang="fr-FR" smtClean="0"/>
              <a:pPr rtl="0"/>
              <a:t>4</a:t>
            </a:fld>
            <a:endParaRPr lang="fr-FR" dirty="0"/>
          </a:p>
        </p:txBody>
      </p:sp>
      <p:sp>
        <p:nvSpPr>
          <p:cNvPr id="13" name="Titre 2">
            <a:extLst>
              <a:ext uri="{FF2B5EF4-FFF2-40B4-BE49-F238E27FC236}">
                <a16:creationId xmlns:a16="http://schemas.microsoft.com/office/drawing/2014/main" id="{C1D8B93E-99C0-92DE-66BA-AC1752B1E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0"/>
            <a:ext cx="8424472" cy="2376868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sz="4000" dirty="0"/>
              <a:t>3. Modélisation &amp; Évaluation</a:t>
            </a:r>
          </a:p>
        </p:txBody>
      </p:sp>
      <p:sp>
        <p:nvSpPr>
          <p:cNvPr id="14" name="Espace réservé du contenu 3">
            <a:extLst>
              <a:ext uri="{FF2B5EF4-FFF2-40B4-BE49-F238E27FC236}">
                <a16:creationId xmlns:a16="http://schemas.microsoft.com/office/drawing/2014/main" id="{953B25BD-C948-B325-05D8-2AA75749510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14355"/>
            <a:ext cx="11002782" cy="4380006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marL="0" indent="0">
              <a:lnSpc>
                <a:spcPct val="150000"/>
              </a:lnSpc>
              <a:buNone/>
            </a:pPr>
            <a:r>
              <a:rPr lang="fr-FR" sz="2600" dirty="0">
                <a:solidFill>
                  <a:schemeClr val="accent4">
                    <a:lumMod val="10000"/>
                  </a:schemeClr>
                </a:solidFill>
              </a:rPr>
              <a:t>- Choix d'algorithmes : </a:t>
            </a:r>
            <a:r>
              <a:rPr lang="fr-FR" sz="2600" dirty="0" err="1">
                <a:solidFill>
                  <a:schemeClr val="accent4">
                    <a:lumMod val="10000"/>
                  </a:schemeClr>
                </a:solidFill>
              </a:rPr>
              <a:t>Logistic</a:t>
            </a:r>
            <a:r>
              <a:rPr lang="fr-FR" sz="26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fr-FR" sz="2600" dirty="0" err="1">
                <a:solidFill>
                  <a:schemeClr val="accent4">
                    <a:lumMod val="10000"/>
                  </a:schemeClr>
                </a:solidFill>
              </a:rPr>
              <a:t>Regression</a:t>
            </a:r>
            <a:r>
              <a:rPr lang="fr-FR" sz="2600" dirty="0">
                <a:solidFill>
                  <a:schemeClr val="accent4">
                    <a:lumMod val="10000"/>
                  </a:schemeClr>
                </a:solidFill>
              </a:rPr>
              <a:t>, Forest, </a:t>
            </a:r>
            <a:r>
              <a:rPr lang="fr-FR" sz="2600" dirty="0" err="1">
                <a:solidFill>
                  <a:schemeClr val="accent4">
                    <a:lumMod val="10000"/>
                  </a:schemeClr>
                </a:solidFill>
              </a:rPr>
              <a:t>Boosted</a:t>
            </a:r>
            <a:r>
              <a:rPr lang="fr-FR" sz="26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fr-FR" sz="2600" dirty="0" err="1">
                <a:solidFill>
                  <a:schemeClr val="accent4">
                    <a:lumMod val="10000"/>
                  </a:schemeClr>
                </a:solidFill>
              </a:rPr>
              <a:t>Trees</a:t>
            </a:r>
            <a:r>
              <a:rPr lang="fr-FR" sz="2600" dirty="0">
                <a:solidFill>
                  <a:schemeClr val="accent4">
                    <a:lumMod val="10000"/>
                  </a:schemeClr>
                </a:solidFill>
              </a:rPr>
              <a:t>, SVM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600" dirty="0">
                <a:solidFill>
                  <a:schemeClr val="accent4">
                    <a:lumMod val="10000"/>
                  </a:schemeClr>
                </a:solidFill>
              </a:rPr>
              <a:t>- Entraînement via le module Train Model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600" dirty="0">
                <a:solidFill>
                  <a:schemeClr val="accent4">
                    <a:lumMod val="10000"/>
                  </a:schemeClr>
                </a:solidFill>
              </a:rPr>
              <a:t>- Évaluation avec Score Model + </a:t>
            </a:r>
            <a:r>
              <a:rPr lang="fr-FR" sz="2600" dirty="0" err="1">
                <a:solidFill>
                  <a:schemeClr val="accent4">
                    <a:lumMod val="10000"/>
                  </a:schemeClr>
                </a:solidFill>
              </a:rPr>
              <a:t>Evaluate</a:t>
            </a:r>
            <a:r>
              <a:rPr lang="fr-FR" sz="2600" dirty="0">
                <a:solidFill>
                  <a:schemeClr val="accent4">
                    <a:lumMod val="10000"/>
                  </a:schemeClr>
                </a:solidFill>
              </a:rPr>
              <a:t> Model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sz="2600" dirty="0">
                <a:solidFill>
                  <a:schemeClr val="accent4">
                    <a:lumMod val="10000"/>
                  </a:schemeClr>
                </a:solidFill>
              </a:rPr>
              <a:t>- Résultat initial peu satisfaisant (F1 ≈ 0.5)</a:t>
            </a:r>
          </a:p>
          <a:p>
            <a:endParaRPr lang="fr-FR" sz="2400" dirty="0">
              <a:solidFill>
                <a:schemeClr val="accent4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2E05D-CFA1-F95F-4734-A40B33E0C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89365F-D0DE-610A-75B6-98FA6EE926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fr-FR"/>
            </a:defPPr>
          </a:lstStyle>
          <a:p>
            <a:pPr rtl="0"/>
            <a:fld id="{B5CEABB6-07DC-46E8-9B57-56EC44A396E5}" type="slidenum">
              <a:rPr lang="fr-FR" smtClean="0"/>
              <a:pPr rtl="0"/>
              <a:t>5</a:t>
            </a:fld>
            <a:endParaRPr lang="fr-FR" dirty="0"/>
          </a:p>
        </p:txBody>
      </p:sp>
      <p:sp>
        <p:nvSpPr>
          <p:cNvPr id="13" name="Titre 2">
            <a:extLst>
              <a:ext uri="{FF2B5EF4-FFF2-40B4-BE49-F238E27FC236}">
                <a16:creationId xmlns:a16="http://schemas.microsoft.com/office/drawing/2014/main" id="{264AD827-632D-09FB-DECF-CFE063B97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0"/>
            <a:ext cx="9968459" cy="2376868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sz="4000" dirty="0"/>
              <a:t>4. Optimisation &amp; Prétraitement</a:t>
            </a:r>
          </a:p>
        </p:txBody>
      </p:sp>
      <p:sp>
        <p:nvSpPr>
          <p:cNvPr id="14" name="Espace réservé du contenu 3">
            <a:extLst>
              <a:ext uri="{FF2B5EF4-FFF2-40B4-BE49-F238E27FC236}">
                <a16:creationId xmlns:a16="http://schemas.microsoft.com/office/drawing/2014/main" id="{49D0F43A-FA46-DF0E-3E88-53429F8E799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87512"/>
            <a:ext cx="9968459" cy="4454956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>
              <a:lnSpc>
                <a:spcPct val="150000"/>
              </a:lnSpc>
            </a:pPr>
            <a:r>
              <a:rPr lang="fr-FR" sz="2600" dirty="0">
                <a:solidFill>
                  <a:schemeClr val="accent4">
                    <a:lumMod val="10000"/>
                  </a:schemeClr>
                </a:solidFill>
              </a:rPr>
              <a:t>Test de plusieurs modèles (</a:t>
            </a:r>
            <a:r>
              <a:rPr lang="fr-FR" sz="2600" dirty="0" err="1">
                <a:solidFill>
                  <a:schemeClr val="accent4">
                    <a:lumMod val="10000"/>
                  </a:schemeClr>
                </a:solidFill>
              </a:rPr>
              <a:t>Boosted</a:t>
            </a:r>
            <a:r>
              <a:rPr lang="fr-FR" sz="2600" dirty="0">
                <a:solidFill>
                  <a:schemeClr val="accent4">
                    <a:lumMod val="10000"/>
                  </a:schemeClr>
                </a:solidFill>
              </a:rPr>
              <a:t> </a:t>
            </a:r>
            <a:r>
              <a:rPr lang="fr-FR" sz="2600" dirty="0" err="1">
                <a:solidFill>
                  <a:schemeClr val="accent4">
                    <a:lumMod val="10000"/>
                  </a:schemeClr>
                </a:solidFill>
              </a:rPr>
              <a:t>Tree</a:t>
            </a:r>
            <a:r>
              <a:rPr lang="fr-FR" sz="2600" dirty="0">
                <a:solidFill>
                  <a:schemeClr val="accent4">
                    <a:lumMod val="10000"/>
                  </a:schemeClr>
                </a:solidFill>
              </a:rPr>
              <a:t> meilleur : F1 = 0.508)</a:t>
            </a:r>
          </a:p>
          <a:p>
            <a:pPr>
              <a:lnSpc>
                <a:spcPct val="150000"/>
              </a:lnSpc>
            </a:pPr>
            <a:r>
              <a:rPr lang="fr-FR" sz="2600" dirty="0">
                <a:solidFill>
                  <a:schemeClr val="accent4">
                    <a:lumMod val="10000"/>
                  </a:schemeClr>
                </a:solidFill>
              </a:rPr>
              <a:t>Suppression des colonnes trop incomplètes</a:t>
            </a:r>
          </a:p>
          <a:p>
            <a:pPr>
              <a:lnSpc>
                <a:spcPct val="150000"/>
              </a:lnSpc>
            </a:pPr>
            <a:r>
              <a:rPr lang="fr-FR" sz="2600" dirty="0">
                <a:solidFill>
                  <a:schemeClr val="accent4">
                    <a:lumMod val="10000"/>
                  </a:schemeClr>
                </a:solidFill>
              </a:rPr>
              <a:t>Imputation des valeurs nulles avec le mode</a:t>
            </a:r>
          </a:p>
          <a:p>
            <a:pPr>
              <a:lnSpc>
                <a:spcPct val="150000"/>
              </a:lnSpc>
            </a:pPr>
            <a:r>
              <a:rPr lang="fr-FR" sz="2600" dirty="0">
                <a:solidFill>
                  <a:schemeClr val="accent4">
                    <a:lumMod val="10000"/>
                  </a:schemeClr>
                </a:solidFill>
              </a:rPr>
              <a:t>Sélection des colonnes importantes avec </a:t>
            </a:r>
            <a:r>
              <a:rPr lang="fr-FR" sz="2600" dirty="0" err="1">
                <a:solidFill>
                  <a:schemeClr val="accent4">
                    <a:lumMod val="10000"/>
                  </a:schemeClr>
                </a:solidFill>
              </a:rPr>
              <a:t>SelectKBest</a:t>
            </a:r>
            <a:r>
              <a:rPr lang="fr-FR" sz="2600" dirty="0">
                <a:solidFill>
                  <a:schemeClr val="accent4">
                    <a:lumMod val="10000"/>
                  </a:schemeClr>
                </a:solidFill>
              </a:rPr>
              <a:t> + scripts</a:t>
            </a:r>
          </a:p>
          <a:p>
            <a:endParaRPr lang="fr-FR" sz="2400" dirty="0">
              <a:solidFill>
                <a:schemeClr val="accent4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812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27E5DB-AFB6-9088-87C9-1F671C0B0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B5CEABB6-07DC-46E8-9B57-56EC44A396E5}" type="slidenum">
              <a:rPr lang="fr-FR" smtClean="0"/>
              <a:pPr rtl="0"/>
              <a:t>6</a:t>
            </a:fld>
            <a:endParaRPr lang="fr-FR" dirty="0"/>
          </a:p>
        </p:txBody>
      </p:sp>
      <p:sp>
        <p:nvSpPr>
          <p:cNvPr id="12" name="Titre 2">
            <a:extLst>
              <a:ext uri="{FF2B5EF4-FFF2-40B4-BE49-F238E27FC236}">
                <a16:creationId xmlns:a16="http://schemas.microsoft.com/office/drawing/2014/main" id="{DA4AB470-F695-ADFC-3445-CC3562AC8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70211"/>
            <a:ext cx="10253272" cy="2376868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pPr rtl="0"/>
            <a:r>
              <a:rPr lang="fr-FR" sz="4000" dirty="0"/>
              <a:t>5. Prétraitement avancé et </a:t>
            </a:r>
            <a:r>
              <a:rPr lang="fr-FR" sz="4000" dirty="0" err="1"/>
              <a:t>AutoML</a:t>
            </a:r>
            <a:endParaRPr lang="fr-FR" sz="4000" dirty="0"/>
          </a:p>
        </p:txBody>
      </p:sp>
      <p:sp>
        <p:nvSpPr>
          <p:cNvPr id="13" name="Espace réservé du contenu 3">
            <a:extLst>
              <a:ext uri="{FF2B5EF4-FFF2-40B4-BE49-F238E27FC236}">
                <a16:creationId xmlns:a16="http://schemas.microsoft.com/office/drawing/2014/main" id="{A9E7B89C-0F5B-7F6D-D100-7EE054F45E2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205037"/>
            <a:ext cx="9263921" cy="3128963"/>
          </a:xfrm>
        </p:spPr>
        <p:txBody>
          <a:bodyPr rtlCol="0">
            <a:noAutofit/>
          </a:bodyPr>
          <a:lstStyle>
            <a:defPPr>
              <a:defRPr lang="fr-FR"/>
            </a:defPPr>
          </a:lstStyle>
          <a:p>
            <a:pPr>
              <a:lnSpc>
                <a:spcPct val="150000"/>
              </a:lnSpc>
            </a:pPr>
            <a:r>
              <a:rPr lang="fr-FR" sz="2600" b="0" dirty="0">
                <a:solidFill>
                  <a:schemeClr val="accent4">
                    <a:lumMod val="10000"/>
                  </a:schemeClr>
                </a:solidFill>
              </a:rPr>
              <a:t>Encodage fréquentiel, nettoyage textuel, mise en minuscule</a:t>
            </a:r>
          </a:p>
          <a:p>
            <a:pPr>
              <a:lnSpc>
                <a:spcPct val="150000"/>
              </a:lnSpc>
            </a:pPr>
            <a:r>
              <a:rPr lang="fr-FR" sz="2600" b="0" dirty="0">
                <a:solidFill>
                  <a:schemeClr val="accent4">
                    <a:lumMod val="10000"/>
                  </a:schemeClr>
                </a:solidFill>
              </a:rPr>
              <a:t>Normalisation Z-score pour les colonnes numériques</a:t>
            </a:r>
          </a:p>
          <a:p>
            <a:pPr>
              <a:lnSpc>
                <a:spcPct val="150000"/>
              </a:lnSpc>
            </a:pPr>
            <a:r>
              <a:rPr lang="fr-FR" sz="2600" b="0" dirty="0">
                <a:solidFill>
                  <a:schemeClr val="accent4">
                    <a:lumMod val="10000"/>
                  </a:schemeClr>
                </a:solidFill>
              </a:rPr>
              <a:t>Utilisation d’</a:t>
            </a:r>
            <a:r>
              <a:rPr lang="fr-FR" sz="2600" b="0" dirty="0" err="1">
                <a:solidFill>
                  <a:schemeClr val="accent4">
                    <a:lumMod val="10000"/>
                  </a:schemeClr>
                </a:solidFill>
              </a:rPr>
              <a:t>AutoML</a:t>
            </a:r>
            <a:r>
              <a:rPr lang="fr-FR" sz="2600" b="0" dirty="0">
                <a:solidFill>
                  <a:schemeClr val="accent4">
                    <a:lumMod val="10000"/>
                  </a:schemeClr>
                </a:solidFill>
              </a:rPr>
              <a:t> pour rechercher le meilleur modèle</a:t>
            </a:r>
          </a:p>
          <a:p>
            <a:pPr>
              <a:lnSpc>
                <a:spcPct val="150000"/>
              </a:lnSpc>
            </a:pPr>
            <a:r>
              <a:rPr lang="fr-FR" sz="2600" b="0" dirty="0">
                <a:solidFill>
                  <a:schemeClr val="accent4">
                    <a:lumMod val="10000"/>
                  </a:schemeClr>
                </a:solidFill>
              </a:rPr>
              <a:t>Résultat </a:t>
            </a:r>
            <a:r>
              <a:rPr lang="fr-FR" sz="2600" b="0" dirty="0" err="1">
                <a:solidFill>
                  <a:schemeClr val="accent4">
                    <a:lumMod val="10000"/>
                  </a:schemeClr>
                </a:solidFill>
              </a:rPr>
              <a:t>AutoML</a:t>
            </a:r>
            <a:r>
              <a:rPr lang="fr-FR" sz="2600" b="0" dirty="0">
                <a:solidFill>
                  <a:schemeClr val="accent4">
                    <a:lumMod val="10000"/>
                  </a:schemeClr>
                </a:solidFill>
              </a:rPr>
              <a:t> non concluant (compte limité)</a:t>
            </a:r>
          </a:p>
        </p:txBody>
      </p:sp>
    </p:spTree>
    <p:extLst>
      <p:ext uri="{BB962C8B-B14F-4D97-AF65-F5344CB8AC3E}">
        <p14:creationId xmlns:p14="http://schemas.microsoft.com/office/powerpoint/2010/main" val="569699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502" y="-2277974"/>
            <a:ext cx="4896678" cy="362498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6. Conclusion</a:t>
            </a:r>
          </a:p>
        </p:txBody>
      </p:sp>
      <p:pic>
        <p:nvPicPr>
          <p:cNvPr id="5" name="Espace réservé d’image 4">
            <a:extLst>
              <a:ext uri="{FF2B5EF4-FFF2-40B4-BE49-F238E27FC236}">
                <a16:creationId xmlns:a16="http://schemas.microsoft.com/office/drawing/2014/main" id="{EE30546E-D63D-6DD8-4DA7-41DD51A44C2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8160" r="18160"/>
          <a:stretch/>
        </p:blipFill>
        <p:spPr>
          <a:xfrm>
            <a:off x="-479686" y="0"/>
            <a:ext cx="5331502" cy="6858000"/>
          </a:xfr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BEA7D4-8B96-5A0E-252E-6B8E8B1CF1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67068" y="1931626"/>
            <a:ext cx="7590020" cy="4413149"/>
          </a:xfrm>
        </p:spPr>
        <p:txBody>
          <a:bodyPr rtlCol="0">
            <a:normAutofit fontScale="92500" lnSpcReduction="20000"/>
          </a:bodyPr>
          <a:lstStyle>
            <a:defPPr>
              <a:defRPr lang="fr-FR"/>
            </a:defPPr>
          </a:lstStyle>
          <a:p>
            <a:pPr>
              <a:lnSpc>
                <a:spcPct val="160000"/>
              </a:lnSpc>
            </a:pPr>
            <a:r>
              <a:rPr lang="fr-FR" sz="2800" dirty="0"/>
              <a:t>- Projet complet de modélisation dans Azure ML Studio</a:t>
            </a:r>
          </a:p>
          <a:p>
            <a:pPr>
              <a:lnSpc>
                <a:spcPct val="160000"/>
              </a:lnSpc>
            </a:pPr>
            <a:r>
              <a:rPr lang="fr-FR" sz="2800" dirty="0"/>
              <a:t>- Apprentissage des bonnes pratiques ML : nettoyage, séparation, test</a:t>
            </a:r>
          </a:p>
          <a:p>
            <a:pPr>
              <a:lnSpc>
                <a:spcPct val="160000"/>
              </a:lnSpc>
            </a:pPr>
            <a:r>
              <a:rPr lang="fr-FR" sz="2800" dirty="0"/>
              <a:t>- Utilisation de Designer sans code + scripts Python</a:t>
            </a:r>
          </a:p>
          <a:p>
            <a:pPr>
              <a:lnSpc>
                <a:spcPct val="160000"/>
              </a:lnSpc>
            </a:pPr>
            <a:r>
              <a:rPr lang="fr-FR" sz="2800" dirty="0"/>
              <a:t>- Résultat modéré, mais pipeline réutilisable et automatisé</a:t>
            </a:r>
          </a:p>
        </p:txBody>
      </p:sp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Personnalisé 3">
      <a:dk1>
        <a:srgbClr val="297D53"/>
      </a:dk1>
      <a:lt1>
        <a:sysClr val="window" lastClr="FFFFFF"/>
      </a:lt1>
      <a:dk2>
        <a:srgbClr val="455F51"/>
      </a:dk2>
      <a:lt2>
        <a:srgbClr val="E2DFCC"/>
      </a:lt2>
      <a:accent1>
        <a:srgbClr val="CBEEDC"/>
      </a:accent1>
      <a:accent2>
        <a:srgbClr val="63A537"/>
      </a:accent2>
      <a:accent3>
        <a:srgbClr val="37A76F"/>
      </a:accent3>
      <a:accent4>
        <a:srgbClr val="CBEEDC"/>
      </a:accent4>
      <a:accent5>
        <a:srgbClr val="1E5D3E"/>
      </a:accent5>
      <a:accent6>
        <a:srgbClr val="63CC97"/>
      </a:accent6>
      <a:hlink>
        <a:srgbClr val="51C3F9"/>
      </a:hlink>
      <a:folHlink>
        <a:srgbClr val="1B190F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7B53FD5-8F3E-4406-8404-9F78B5E6376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68EFD9E-464D-4A64-8503-21EC026015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133F63F-9110-40E7-9727-485934F4150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</TotalTime>
  <Words>269</Words>
  <Application>Microsoft Office PowerPoint</Application>
  <PresentationFormat>Grand écran</PresentationFormat>
  <Paragraphs>43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Tenorite</vt:lpstr>
      <vt:lpstr>Personnalisé</vt:lpstr>
      <vt:lpstr>Projet Azure ML Studio  </vt:lpstr>
      <vt:lpstr>1. Importation et Prétraitement</vt:lpstr>
      <vt:lpstr>Présentation PowerPoint</vt:lpstr>
      <vt:lpstr>3. Modélisation &amp; Évaluation</vt:lpstr>
      <vt:lpstr>4. Optimisation &amp; Prétraitement</vt:lpstr>
      <vt:lpstr>5. Prétraitement avancé et AutoML</vt:lpstr>
      <vt:lpstr>6.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Martinien Mehoun</cp:lastModifiedBy>
  <cp:revision>4</cp:revision>
  <dcterms:created xsi:type="dcterms:W3CDTF">2024-01-04T07:32:45Z</dcterms:created>
  <dcterms:modified xsi:type="dcterms:W3CDTF">2025-12-26T14:46:58Z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